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9" r:id="rId5"/>
    <p:sldId id="278" r:id="rId6"/>
    <p:sldId id="280" r:id="rId7"/>
    <p:sldId id="281" r:id="rId8"/>
    <p:sldId id="286" r:id="rId9"/>
    <p:sldId id="275" r:id="rId10"/>
    <p:sldId id="258" r:id="rId11"/>
    <p:sldId id="259" r:id="rId12"/>
    <p:sldId id="270" r:id="rId13"/>
    <p:sldId id="260" r:id="rId14"/>
    <p:sldId id="264" r:id="rId15"/>
    <p:sldId id="283" r:id="rId16"/>
    <p:sldId id="284" r:id="rId17"/>
    <p:sldId id="282" r:id="rId18"/>
    <p:sldId id="27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778FA8"/>
    <a:srgbClr val="2A185C"/>
    <a:srgbClr val="616D94"/>
    <a:srgbClr val="62BA71"/>
    <a:srgbClr val="367B42"/>
    <a:srgbClr val="396A3D"/>
    <a:srgbClr val="8B9C7C"/>
    <a:srgbClr val="C9BCAC"/>
    <a:srgbClr val="003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0E3B8-2502-4324-96F8-BB8424D5E66E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1A713-B524-4946-8F52-28231529C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5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Phishing: </a:t>
            </a:r>
            <a:r>
              <a:rPr lang="en-US" b="0" i="0" dirty="0">
                <a:solidFill>
                  <a:srgbClr val="111111"/>
                </a:solidFill>
                <a:effectLst/>
                <a:latin typeface="Roboto"/>
              </a:rPr>
              <a:t>the fraudulent practice of sending emails purporting to be from reputable companies in order to induce individuals to reveal personal information, such as passwords and credit card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1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Costs Annual Salary of 300%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30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TP/TN Correctly predicts no cost</a:t>
            </a:r>
          </a:p>
          <a:p>
            <a:r>
              <a:rPr lang="en-US" dirty="0"/>
              <a:t>FP Wrong predict no cost</a:t>
            </a:r>
          </a:p>
          <a:p>
            <a:r>
              <a:rPr lang="en-US" dirty="0"/>
              <a:t>FN wrong predict High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36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interests of time the first pass only had one </a:t>
            </a:r>
            <a:r>
              <a:rPr lang="en-US" dirty="0" err="1"/>
              <a:t>classifer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50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# Plot global </a:t>
            </a:r>
            <a:r>
              <a:rPr lang="en-US" i="1" dirty="0" err="1">
                <a:effectLst/>
              </a:rPr>
              <a:t>explainability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shap</a:t>
            </a:r>
            <a:r>
              <a:rPr lang="en-US" b="1" dirty="0" err="1">
                <a:effectLst/>
              </a:rPr>
              <a:t>.</a:t>
            </a:r>
            <a:r>
              <a:rPr lang="en-US" dirty="0" err="1">
                <a:effectLst/>
              </a:rPr>
              <a:t>summary_plot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shap_values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encoded_x_test</a:t>
            </a:r>
            <a:r>
              <a:rPr lang="en-US" dirty="0">
                <a:effectLst/>
              </a:rPr>
              <a:t>)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From list earlier: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1 = Marked for PHT Program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0 = Hired through SMTP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2 = Religion (code)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75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# Plot global </a:t>
            </a:r>
            <a:r>
              <a:rPr lang="en-US" i="1" dirty="0" err="1">
                <a:effectLst/>
              </a:rPr>
              <a:t>explainability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shap</a:t>
            </a:r>
            <a:r>
              <a:rPr lang="en-US" b="1" dirty="0" err="1">
                <a:effectLst/>
              </a:rPr>
              <a:t>.</a:t>
            </a:r>
            <a:r>
              <a:rPr lang="en-US" dirty="0" err="1">
                <a:effectLst/>
              </a:rPr>
              <a:t>summary_plot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shap_values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encoded_x_test</a:t>
            </a:r>
            <a:r>
              <a:rPr lang="en-US" dirty="0">
                <a:effectLst/>
              </a:rPr>
              <a:t>)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From list earlier: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1 = Marked for PHT Program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0 = Hired through SMTP</a:t>
            </a:r>
            <a:r>
              <a:rPr lang="en-US" dirty="0"/>
              <a:t> </a:t>
            </a:r>
            <a:r>
              <a:rPr lang="en-US" i="1" dirty="0">
                <a:effectLst/>
              </a:rPr>
              <a:t># 2 = Religion (code)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48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1A713-B524-4946-8F52-28231529C2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39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E128-E5F2-4F21-A788-6B21B3DD2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36E67-5C1B-4135-8DEE-2E3C489A8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A2BCD-764B-4A7F-AF16-7960763D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9732-827F-46DE-A459-8E7ABA79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D940-AD88-46EE-A79F-167CA9C3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E15F-4F31-4C25-B2B4-2E17EEF2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AD60E-4000-45C2-B9B6-C8FDCE1BC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EF85-360A-4577-8E4E-153EF4916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328A-2E2D-4BAA-886B-E85D34EC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5C505-A08F-45ED-9DFA-1D0357B5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1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136A-8CDB-4B5F-8354-EFF15A304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27FB-1A70-43CC-8132-D074B8616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E4F4F-26E1-4DE6-9FEB-72D93F21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1B182-B7B6-4FC8-8D01-AD56B077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CCD1-0AE5-4935-BAC1-2F6165C9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4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EAC3-A101-4A2E-B733-DFBA8569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07BD-A89C-4671-8BC2-E3D84B4F0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BC31F-0627-46E8-B423-06BF9779C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B35DF-8686-431F-BF55-AE11DA89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69C60-B670-45E2-ADDC-3B712836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394DA-0E96-48E3-952B-9AB751F9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9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3650-761C-489C-95C8-AB143EB6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212B5-AF86-4172-91A3-229AEDDB7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4912-178A-4909-A146-1C8BC9BD9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1D136-9452-4081-AEE5-ADE81AEAF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1903F-8BA6-424F-9513-701B4C380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83E84-ACDD-48E4-9726-F304D4F4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1E726-CFD1-41AA-89EA-7B09FA89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C9696-2523-4CD0-8BC3-6CFA6D59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6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815F-7B85-4EC4-9443-CCB9E08F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013AE-DF31-478A-A3BA-FDC1E829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26A15-ED4D-454D-995A-0C00C9FD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BD277-C9F7-4780-900B-69B0B31F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46CA3-95B5-401A-B387-2A8988E7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A71D9-C37E-44D7-9ABC-7C14BAE1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86E5A-581A-4052-8A24-89922A39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4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8701-BDBA-49C7-9374-9A6673BA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5433-BF69-4965-9B6D-F980BC0B6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2BD2D-DFF5-438E-A5C6-441BD384F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29B84-2A87-4832-A848-89B733EA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9BB2D-7829-4F2D-B4AA-2401BB21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06A5A-FCDB-4791-A6A0-55FBC427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2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728A-B380-4EF9-AD9F-87BE24FF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2A05F-C321-4E98-ABC4-818F0F8CC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F9287-53F5-4DD2-9345-F4D682ACF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FE9D7-6B26-4013-B836-B7A3488F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748B0-21FC-45DB-B54C-7F82E922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140C4-FDBC-4970-AC54-35669558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3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4661-2749-4118-B9C1-60E3B487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9EB14-A148-4EFF-8D5E-0982A9E7C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EC4DA-2783-4AEC-A0AF-95940F35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EDEB-14B2-4E1D-B01D-D362965C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44191-0570-4451-8FD7-FCB28135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4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23F6B-8F06-4ED6-BB33-82E55B8E1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5A287-A45A-4FC1-8A2C-6013C68F0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004E-4921-4996-9890-CAF4A3A0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B892-2780-490D-9E0F-4E978BA2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75FBA-EAC1-49AF-AC15-ED632F60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9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1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192E3-7CB9-4F6B-8CC0-2956A2A7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16623-C420-49AB-BD25-E15E3697A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0D6B-310D-492B-8C0E-2D6B1FBCA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14FC-B3FF-490C-ADC3-FC21B5CA4333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A66E-A206-4089-9BA0-44FEBB6EF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9021-EA01-4700-90BD-E65F12569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64754-C05B-4013-9E0A-70175075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9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C5A3BA-37BD-4123-A38B-4EA99B755AB1}"/>
              </a:ext>
            </a:extLst>
          </p:cNvPr>
          <p:cNvSpPr/>
          <p:nvPr/>
        </p:nvSpPr>
        <p:spPr>
          <a:xfrm>
            <a:off x="0" y="1791478"/>
            <a:ext cx="12192000" cy="3278155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ACF7813E-126A-4BAA-B87D-71DCEC7DA2D6}"/>
              </a:ext>
            </a:extLst>
          </p:cNvPr>
          <p:cNvSpPr/>
          <p:nvPr/>
        </p:nvSpPr>
        <p:spPr>
          <a:xfrm>
            <a:off x="146665" y="1943101"/>
            <a:ext cx="11898669" cy="2971798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Sportswear</a:t>
            </a:r>
          </a:p>
        </p:txBody>
      </p:sp>
    </p:spTree>
    <p:extLst>
      <p:ext uri="{BB962C8B-B14F-4D97-AF65-F5344CB8AC3E}">
        <p14:creationId xmlns:p14="http://schemas.microsoft.com/office/powerpoint/2010/main" val="425757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592173" cy="16421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8901" y="329679"/>
            <a:ext cx="11294912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375BE-D8C9-453D-BFE7-32CE8AD73C77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92446-D067-4365-8180-21F981B0BCB7}"/>
              </a:ext>
            </a:extLst>
          </p:cNvPr>
          <p:cNvSpPr txBox="1"/>
          <p:nvPr/>
        </p:nvSpPr>
        <p:spPr>
          <a:xfrm>
            <a:off x="589278" y="2559920"/>
            <a:ext cx="57235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CF997-CB4E-4D7B-BE7A-7987A19E641E}"/>
              </a:ext>
            </a:extLst>
          </p:cNvPr>
          <p:cNvSpPr txBox="1"/>
          <p:nvPr/>
        </p:nvSpPr>
        <p:spPr>
          <a:xfrm>
            <a:off x="6241320" y="2569060"/>
            <a:ext cx="526713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Holdout dataset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317238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8" y="2351314"/>
            <a:ext cx="44724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Turnover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Reactive Costs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8891B5-AC99-4A3B-A859-BC739165F4DB}"/>
              </a:ext>
            </a:extLst>
          </p:cNvPr>
          <p:cNvSpPr txBox="1"/>
          <p:nvPr/>
        </p:nvSpPr>
        <p:spPr>
          <a:xfrm>
            <a:off x="559839" y="5480909"/>
            <a:ext cx="9965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employees will likely leave and why?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actions will decrease the rate of turnover?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674B3-2E73-4C13-917C-01F68478EF68}"/>
              </a:ext>
            </a:extLst>
          </p:cNvPr>
          <p:cNvSpPr txBox="1"/>
          <p:nvPr/>
        </p:nvSpPr>
        <p:spPr>
          <a:xfrm>
            <a:off x="5645020" y="3811594"/>
            <a:ext cx="36451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</a:rPr>
              <a:t>300%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22A861-9303-4B02-885C-1C70B0CCD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88" y="3645888"/>
            <a:ext cx="1489145" cy="14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6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9" y="2351314"/>
            <a:ext cx="435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5B6D2-589C-43F9-BB8C-4F1CB0ED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5" y="3326572"/>
            <a:ext cx="4715533" cy="3162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45C4FE-7629-4C6D-9BA3-D811834A5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468" y="2351314"/>
            <a:ext cx="4505954" cy="3172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74855F-0D2D-492B-A9C2-B058199BA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248" y="2918336"/>
            <a:ext cx="4382112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5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9" y="2351314"/>
            <a:ext cx="435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4864B9-3F20-406B-9ADA-3B65901D3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49" y="3124000"/>
            <a:ext cx="2931092" cy="2940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B5A207-0727-4664-A32C-69D16FBEB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073" y="3124000"/>
            <a:ext cx="3453787" cy="29405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3D233A-525A-4872-A8E0-07930A691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293" y="3124779"/>
            <a:ext cx="3177158" cy="29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8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9" y="2351314"/>
            <a:ext cx="435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5F3AF9-409D-400C-AAC9-DFFF0F3B3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103" y="3188625"/>
            <a:ext cx="3210602" cy="30427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696B8F-1A74-441D-B559-1185F6583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275" y="3185554"/>
            <a:ext cx="3288282" cy="30427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9D2365-E23A-410A-BEF9-4257F950C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90" y="3185554"/>
            <a:ext cx="3266243" cy="30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3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214464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9" y="2351314"/>
            <a:ext cx="435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AC0ECE-195C-4CF3-83E3-9637AC37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808" y="3086028"/>
            <a:ext cx="3285007" cy="3106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9A8651-358C-4A3C-A25B-7F754F1F0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11" y="3086028"/>
            <a:ext cx="3182646" cy="31060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450EF0-8FFC-4B04-A8A9-1EEDD0906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866" y="2631939"/>
            <a:ext cx="2437547" cy="368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4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214464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3F9FF-BCE6-4D81-873C-98B3673276B2}"/>
              </a:ext>
            </a:extLst>
          </p:cNvPr>
          <p:cNvSpPr txBox="1"/>
          <p:nvPr/>
        </p:nvSpPr>
        <p:spPr>
          <a:xfrm rot="16200000">
            <a:off x="-379321" y="3802107"/>
            <a:ext cx="231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2F7FB-4D71-4FD2-879A-69329EF2E5D1}"/>
              </a:ext>
            </a:extLst>
          </p:cNvPr>
          <p:cNvSpPr/>
          <p:nvPr/>
        </p:nvSpPr>
        <p:spPr>
          <a:xfrm>
            <a:off x="6874547" y="2351314"/>
            <a:ext cx="4817097" cy="4251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0EDAF0-28D9-47E4-B0DD-4AEF57177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750" y="2444692"/>
            <a:ext cx="4657801" cy="4533957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5D073D-9037-4CAE-A947-1118B6DA174D}"/>
              </a:ext>
            </a:extLst>
          </p:cNvPr>
          <p:cNvSpPr/>
          <p:nvPr/>
        </p:nvSpPr>
        <p:spPr>
          <a:xfrm>
            <a:off x="1621354" y="2351314"/>
            <a:ext cx="4817097" cy="4251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D0744C-3A8E-4B9F-9C85-66C0D8F2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354" y="2338476"/>
            <a:ext cx="4516117" cy="424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50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798561" cy="1617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5015" y="255139"/>
            <a:ext cx="11541969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Classifications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6068-7ED0-47A1-B9DC-D43644ABA888}"/>
              </a:ext>
            </a:extLst>
          </p:cNvPr>
          <p:cNvSpPr/>
          <p:nvPr/>
        </p:nvSpPr>
        <p:spPr>
          <a:xfrm>
            <a:off x="181942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12E7A-7FF6-4E9B-A58F-F57F833CB0FB}"/>
              </a:ext>
            </a:extLst>
          </p:cNvPr>
          <p:cNvSpPr txBox="1"/>
          <p:nvPr/>
        </p:nvSpPr>
        <p:spPr>
          <a:xfrm>
            <a:off x="559839" y="2351314"/>
            <a:ext cx="4354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3F9FF-BCE6-4D81-873C-98B3673276B2}"/>
              </a:ext>
            </a:extLst>
          </p:cNvPr>
          <p:cNvSpPr txBox="1"/>
          <p:nvPr/>
        </p:nvSpPr>
        <p:spPr>
          <a:xfrm>
            <a:off x="398108" y="2351314"/>
            <a:ext cx="3788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 Classifications: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0AB2B-7526-479E-96D0-C4093B95D23C}"/>
              </a:ext>
            </a:extLst>
          </p:cNvPr>
          <p:cNvSpPr txBox="1"/>
          <p:nvPr/>
        </p:nvSpPr>
        <p:spPr>
          <a:xfrm>
            <a:off x="696686" y="2972995"/>
            <a:ext cx="3738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False Negatives = FN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False Positives = FP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True Negatives = TN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True Positives = TP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F108B-4616-4AC1-A80C-3759436E336F}"/>
              </a:ext>
            </a:extLst>
          </p:cNvPr>
          <p:cNvSpPr txBox="1"/>
          <p:nvPr/>
        </p:nvSpPr>
        <p:spPr>
          <a:xfrm>
            <a:off x="5592146" y="2752502"/>
            <a:ext cx="1194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TP/TN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38EE8-6326-4645-8B14-B9753EB87F44}"/>
              </a:ext>
            </a:extLst>
          </p:cNvPr>
          <p:cNvSpPr txBox="1"/>
          <p:nvPr/>
        </p:nvSpPr>
        <p:spPr>
          <a:xfrm>
            <a:off x="5896945" y="3643569"/>
            <a:ext cx="584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E72C5-0760-4F96-B9CA-8388A4816B19}"/>
              </a:ext>
            </a:extLst>
          </p:cNvPr>
          <p:cNvSpPr txBox="1"/>
          <p:nvPr/>
        </p:nvSpPr>
        <p:spPr>
          <a:xfrm>
            <a:off x="5847182" y="4534636"/>
            <a:ext cx="684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C9BF55-9335-4335-B778-A7454C9FB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72" y="2657048"/>
            <a:ext cx="552414" cy="631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1F52E7-9D3B-46D4-9735-71C7209BE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72" y="4631073"/>
            <a:ext cx="391902" cy="3919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E2F5448-3651-46CF-B7F1-39ECF22EB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72" y="3740005"/>
            <a:ext cx="391902" cy="3919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8E13E96-F1D2-43B6-8584-56E71084AF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183" y="3643569"/>
            <a:ext cx="584775" cy="5847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86362C-B025-4287-A8A2-E6181F2817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411" y="4534635"/>
            <a:ext cx="584776" cy="58477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90FD0E7-B878-4EE6-8D69-02C5CEBAA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182" y="2752502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7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415A2B-CCAD-4580-B92D-B3E446F525C3}"/>
              </a:ext>
            </a:extLst>
          </p:cNvPr>
          <p:cNvSpPr/>
          <p:nvPr/>
        </p:nvSpPr>
        <p:spPr>
          <a:xfrm>
            <a:off x="178057" y="205270"/>
            <a:ext cx="11817224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94CB5D9-4F03-487B-85C1-A43ABDDF7F2A}"/>
              </a:ext>
            </a:extLst>
          </p:cNvPr>
          <p:cNvSpPr/>
          <p:nvPr/>
        </p:nvSpPr>
        <p:spPr>
          <a:xfrm>
            <a:off x="367003" y="318792"/>
            <a:ext cx="11505812" cy="1321838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Data Cleanup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512F9-B606-4ACE-97B2-AD006CCE3CA4}"/>
              </a:ext>
            </a:extLst>
          </p:cNvPr>
          <p:cNvSpPr txBox="1"/>
          <p:nvPr/>
        </p:nvSpPr>
        <p:spPr>
          <a:xfrm>
            <a:off x="367003" y="1880614"/>
            <a:ext cx="98655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55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99k rows in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55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extraneous characters, obvious errors, or crazy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55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columns were categorical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55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column was a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55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continuous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62D6D-FD29-4B38-96FF-37C28A0B7A06}"/>
              </a:ext>
            </a:extLst>
          </p:cNvPr>
          <p:cNvSpPr/>
          <p:nvPr/>
        </p:nvSpPr>
        <p:spPr>
          <a:xfrm>
            <a:off x="181942" y="3937518"/>
            <a:ext cx="11817224" cy="27089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99CD2-3025-4961-BB48-D1BC86A0C7EA}"/>
              </a:ext>
            </a:extLst>
          </p:cNvPr>
          <p:cNvSpPr txBox="1"/>
          <p:nvPr/>
        </p:nvSpPr>
        <p:spPr>
          <a:xfrm>
            <a:off x="367003" y="4069478"/>
            <a:ext cx="2475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C9401B-A499-497B-A3EC-C2DB76CB2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9241" y="4649055"/>
            <a:ext cx="1763486" cy="1763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8BFD44-8615-4092-A587-69472EA2D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95" y="4649055"/>
            <a:ext cx="1156728" cy="15276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382731-AE77-4D9F-BE14-54525484F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102" y="4413231"/>
            <a:ext cx="1763486" cy="17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6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2BB63A-A9CC-441C-B11E-8A9A42579DB2}"/>
              </a:ext>
            </a:extLst>
          </p:cNvPr>
          <p:cNvSpPr/>
          <p:nvPr/>
        </p:nvSpPr>
        <p:spPr>
          <a:xfrm>
            <a:off x="200605" y="211491"/>
            <a:ext cx="11817224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A409028-3D65-4CEE-A357-73E0AD9AF30E}"/>
              </a:ext>
            </a:extLst>
          </p:cNvPr>
          <p:cNvSpPr/>
          <p:nvPr/>
        </p:nvSpPr>
        <p:spPr>
          <a:xfrm>
            <a:off x="319570" y="315682"/>
            <a:ext cx="11562660" cy="1340500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Grid 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7CC985-0842-4442-980B-66D1B5DE592D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F3342-AB3B-4346-971F-7EAA6F740CD3}"/>
              </a:ext>
            </a:extLst>
          </p:cNvPr>
          <p:cNvSpPr txBox="1"/>
          <p:nvPr/>
        </p:nvSpPr>
        <p:spPr>
          <a:xfrm>
            <a:off x="422989" y="2457061"/>
            <a:ext cx="69481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Variety of potential classifiers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combinations of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out test set used to compute relative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Exhaustive Grid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one classifier 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used initially to save time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54C0F9-A640-4FA7-B31A-27D30637933F}"/>
              </a:ext>
            </a:extLst>
          </p:cNvPr>
          <p:cNvCxnSpPr/>
          <p:nvPr/>
        </p:nvCxnSpPr>
        <p:spPr>
          <a:xfrm>
            <a:off x="3415005" y="2531706"/>
            <a:ext cx="7744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9166B3-70FD-40F3-8E33-80185E4599A9}"/>
              </a:ext>
            </a:extLst>
          </p:cNvPr>
          <p:cNvSpPr txBox="1"/>
          <p:nvPr/>
        </p:nvSpPr>
        <p:spPr>
          <a:xfrm>
            <a:off x="478973" y="4393165"/>
            <a:ext cx="58782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Cross-Validation: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fold cross-validation scheme proved too time consuming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fold cross-validation allowed for an adequate amount and equated to 20% data hold out for validation</a:t>
            </a:r>
          </a:p>
        </p:txBody>
      </p:sp>
    </p:spTree>
    <p:extLst>
      <p:ext uri="{BB962C8B-B14F-4D97-AF65-F5344CB8AC3E}">
        <p14:creationId xmlns:p14="http://schemas.microsoft.com/office/powerpoint/2010/main" val="3789981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2801F7-8A6F-4E5C-BDB0-A40B3391A1EE}"/>
              </a:ext>
            </a:extLst>
          </p:cNvPr>
          <p:cNvSpPr/>
          <p:nvPr/>
        </p:nvSpPr>
        <p:spPr>
          <a:xfrm>
            <a:off x="0" y="1736270"/>
            <a:ext cx="12192000" cy="3385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ACF7813E-126A-4BAA-B87D-71DCEC7DA2D6}"/>
              </a:ext>
            </a:extLst>
          </p:cNvPr>
          <p:cNvSpPr/>
          <p:nvPr/>
        </p:nvSpPr>
        <p:spPr>
          <a:xfrm>
            <a:off x="130629" y="1943099"/>
            <a:ext cx="11955624" cy="2971798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000687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881EDB-72C8-4E89-95B5-BD2BC2CA2DB7}"/>
              </a:ext>
            </a:extLst>
          </p:cNvPr>
          <p:cNvSpPr/>
          <p:nvPr/>
        </p:nvSpPr>
        <p:spPr>
          <a:xfrm>
            <a:off x="181942" y="211491"/>
            <a:ext cx="11817224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FDD6ECF4-B905-4B33-A88F-A4BB9638A761}"/>
              </a:ext>
            </a:extLst>
          </p:cNvPr>
          <p:cNvSpPr/>
          <p:nvPr/>
        </p:nvSpPr>
        <p:spPr>
          <a:xfrm>
            <a:off x="278296" y="306351"/>
            <a:ext cx="11630675" cy="1359162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FE93E-124C-4705-8D0B-77981E072E66}"/>
              </a:ext>
            </a:extLst>
          </p:cNvPr>
          <p:cNvSpPr/>
          <p:nvPr/>
        </p:nvSpPr>
        <p:spPr>
          <a:xfrm>
            <a:off x="181942" y="2113783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0DB52-496A-44ED-9C1E-5BD67A07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96" y="2377599"/>
            <a:ext cx="5060614" cy="40116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EDD434-18CF-4A37-8671-C50A08C77D59}"/>
              </a:ext>
            </a:extLst>
          </p:cNvPr>
          <p:cNvSpPr txBox="1"/>
          <p:nvPr/>
        </p:nvSpPr>
        <p:spPr>
          <a:xfrm>
            <a:off x="626890" y="2828835"/>
            <a:ext cx="5877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 negatives are the most expensive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to minimize false negatives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recall for classifier scoring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Score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0.7142157484971339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90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D99617-4274-47D5-8F5A-4F0CA93B679F}"/>
              </a:ext>
            </a:extLst>
          </p:cNvPr>
          <p:cNvSpPr/>
          <p:nvPr/>
        </p:nvSpPr>
        <p:spPr>
          <a:xfrm>
            <a:off x="211495" y="211491"/>
            <a:ext cx="11783786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200747A-1062-4FEF-9EA1-E772603A89D1}"/>
              </a:ext>
            </a:extLst>
          </p:cNvPr>
          <p:cNvSpPr/>
          <p:nvPr/>
        </p:nvSpPr>
        <p:spPr>
          <a:xfrm>
            <a:off x="354563" y="323150"/>
            <a:ext cx="11512422" cy="1325563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D8E69-B221-4714-A041-826701D287A2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0A9DA-7912-4D55-A88F-C06826E9C057}"/>
              </a:ext>
            </a:extLst>
          </p:cNvPr>
          <p:cNvSpPr txBox="1"/>
          <p:nvPr/>
        </p:nvSpPr>
        <p:spPr>
          <a:xfrm>
            <a:off x="553616" y="2463282"/>
            <a:ext cx="122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4A464-960E-4E81-A825-76B3DB845C10}"/>
              </a:ext>
            </a:extLst>
          </p:cNvPr>
          <p:cNvSpPr txBox="1"/>
          <p:nvPr/>
        </p:nvSpPr>
        <p:spPr>
          <a:xfrm>
            <a:off x="564778" y="3086669"/>
            <a:ext cx="59020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Shap</a:t>
            </a:r>
            <a:r>
              <a:rPr lang="en-US" sz="2400" dirty="0">
                <a:solidFill>
                  <a:schemeClr val="bg1"/>
                </a:solidFill>
              </a:rPr>
              <a:t> summary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Top influencing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 = Marked for PHT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0 = Hired through SMTP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= Religion (code)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EA2E5-DF7D-4A47-9AFB-55EEFCD0C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888" y="2269818"/>
            <a:ext cx="3585498" cy="42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07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D99617-4274-47D5-8F5A-4F0CA93B679F}"/>
              </a:ext>
            </a:extLst>
          </p:cNvPr>
          <p:cNvSpPr/>
          <p:nvPr/>
        </p:nvSpPr>
        <p:spPr>
          <a:xfrm>
            <a:off x="211495" y="211491"/>
            <a:ext cx="11783786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200747A-1062-4FEF-9EA1-E772603A89D1}"/>
              </a:ext>
            </a:extLst>
          </p:cNvPr>
          <p:cNvSpPr/>
          <p:nvPr/>
        </p:nvSpPr>
        <p:spPr>
          <a:xfrm>
            <a:off x="354563" y="323150"/>
            <a:ext cx="11512422" cy="1325563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D8E69-B221-4714-A041-826701D287A2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0A9DA-7912-4D55-A88F-C06826E9C057}"/>
              </a:ext>
            </a:extLst>
          </p:cNvPr>
          <p:cNvSpPr txBox="1"/>
          <p:nvPr/>
        </p:nvSpPr>
        <p:spPr>
          <a:xfrm>
            <a:off x="553616" y="2463282"/>
            <a:ext cx="1225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Local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A16F8-7CD2-42DC-B34E-49AB16463C41}"/>
              </a:ext>
            </a:extLst>
          </p:cNvPr>
          <p:cNvSpPr txBox="1"/>
          <p:nvPr/>
        </p:nvSpPr>
        <p:spPr>
          <a:xfrm>
            <a:off x="427349" y="4443185"/>
            <a:ext cx="59020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Shap</a:t>
            </a:r>
            <a:r>
              <a:rPr lang="en-US" sz="2400" dirty="0">
                <a:solidFill>
                  <a:schemeClr val="bg1"/>
                </a:solidFill>
              </a:rPr>
              <a:t> force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Top influencing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 = Marked for PHT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0 = Hired through SMTP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= Religion (code)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B2D86C-A539-474F-8F47-6EC2E0D2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57" y="2323531"/>
            <a:ext cx="8834128" cy="24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0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D99617-4274-47D5-8F5A-4F0CA93B679F}"/>
              </a:ext>
            </a:extLst>
          </p:cNvPr>
          <p:cNvSpPr/>
          <p:nvPr/>
        </p:nvSpPr>
        <p:spPr>
          <a:xfrm>
            <a:off x="211495" y="211491"/>
            <a:ext cx="11783786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200747A-1062-4FEF-9EA1-E772603A89D1}"/>
              </a:ext>
            </a:extLst>
          </p:cNvPr>
          <p:cNvSpPr/>
          <p:nvPr/>
        </p:nvSpPr>
        <p:spPr>
          <a:xfrm>
            <a:off x="354563" y="323150"/>
            <a:ext cx="11512422" cy="1325563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Bias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B088-E303-48C8-A2E4-38C0D140FEBB}"/>
              </a:ext>
            </a:extLst>
          </p:cNvPr>
          <p:cNvSpPr/>
          <p:nvPr/>
        </p:nvSpPr>
        <p:spPr>
          <a:xfrm>
            <a:off x="187388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CAC236-DF76-4883-A2E7-4D8D6EBA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63" y="1681838"/>
            <a:ext cx="4943301" cy="48530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4046F-30FE-453C-9E6F-CB99585FD2FC}"/>
              </a:ext>
            </a:extLst>
          </p:cNvPr>
          <p:cNvSpPr txBox="1"/>
          <p:nvPr/>
        </p:nvSpPr>
        <p:spPr>
          <a:xfrm>
            <a:off x="5695567" y="2784068"/>
            <a:ext cx="59020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Fair ML feature 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Top influencing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 = Marked for PHT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0 = Hired through SMTP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= Religion (code)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Religion is a protected group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 from data due to excessive influence</a:t>
            </a:r>
          </a:p>
        </p:txBody>
      </p:sp>
    </p:spTree>
    <p:extLst>
      <p:ext uri="{BB962C8B-B14F-4D97-AF65-F5344CB8AC3E}">
        <p14:creationId xmlns:p14="http://schemas.microsoft.com/office/powerpoint/2010/main" val="450884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D99617-4274-47D5-8F5A-4F0CA93B679F}"/>
              </a:ext>
            </a:extLst>
          </p:cNvPr>
          <p:cNvSpPr/>
          <p:nvPr/>
        </p:nvSpPr>
        <p:spPr>
          <a:xfrm>
            <a:off x="211495" y="211491"/>
            <a:ext cx="11783786" cy="154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200747A-1062-4FEF-9EA1-E772603A89D1}"/>
              </a:ext>
            </a:extLst>
          </p:cNvPr>
          <p:cNvSpPr/>
          <p:nvPr/>
        </p:nvSpPr>
        <p:spPr>
          <a:xfrm>
            <a:off x="354563" y="323150"/>
            <a:ext cx="11512422" cy="1325563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Bias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B088-E303-48C8-A2E4-38C0D140FEBB}"/>
              </a:ext>
            </a:extLst>
          </p:cNvPr>
          <p:cNvSpPr/>
          <p:nvPr/>
        </p:nvSpPr>
        <p:spPr>
          <a:xfrm>
            <a:off x="187388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E5646-B555-48A3-AB39-54361A44A155}"/>
              </a:ext>
            </a:extLst>
          </p:cNvPr>
          <p:cNvSpPr txBox="1"/>
          <p:nvPr/>
        </p:nvSpPr>
        <p:spPr>
          <a:xfrm>
            <a:off x="491411" y="2394857"/>
            <a:ext cx="2638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Removing bias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C2200B-9100-426E-9CAC-1523FCC6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44" y="1871563"/>
            <a:ext cx="4755041" cy="46632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3CEB84-47D8-471F-B592-AB52B1978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108" y="2303101"/>
            <a:ext cx="3229426" cy="247684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6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FC202B-47C4-40B9-8FC7-786AC4978875}"/>
              </a:ext>
            </a:extLst>
          </p:cNvPr>
          <p:cNvSpPr txBox="1"/>
          <p:nvPr/>
        </p:nvSpPr>
        <p:spPr>
          <a:xfrm>
            <a:off x="325015" y="4020475"/>
            <a:ext cx="67848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 Religion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Retrain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Recall Score (unbiased): 0.7152769813159423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New top influencing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0 = Hired through SMTP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1 = Marked for PHT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 = Survey, Relative, Attitude toward Manager </a:t>
            </a:r>
          </a:p>
        </p:txBody>
      </p:sp>
    </p:spTree>
    <p:extLst>
      <p:ext uri="{BB962C8B-B14F-4D97-AF65-F5344CB8AC3E}">
        <p14:creationId xmlns:p14="http://schemas.microsoft.com/office/powerpoint/2010/main" val="2994430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3F7AB4-AC3A-451E-BC5F-09246418B5F2}"/>
              </a:ext>
            </a:extLst>
          </p:cNvPr>
          <p:cNvSpPr/>
          <p:nvPr/>
        </p:nvSpPr>
        <p:spPr>
          <a:xfrm>
            <a:off x="200605" y="211490"/>
            <a:ext cx="11662494" cy="16421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722B482-0571-4070-99B3-EFEDF9214794}"/>
              </a:ext>
            </a:extLst>
          </p:cNvPr>
          <p:cNvSpPr/>
          <p:nvPr/>
        </p:nvSpPr>
        <p:spPr>
          <a:xfrm>
            <a:off x="328900" y="329679"/>
            <a:ext cx="11379395" cy="1405811"/>
          </a:xfrm>
          <a:prstGeom prst="diamond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375BE-D8C9-453D-BFE7-32CE8AD73C77}"/>
              </a:ext>
            </a:extLst>
          </p:cNvPr>
          <p:cNvSpPr/>
          <p:nvPr/>
        </p:nvSpPr>
        <p:spPr>
          <a:xfrm>
            <a:off x="200605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9A047-6BF4-474E-8E5F-540D41B3EEED}"/>
              </a:ext>
            </a:extLst>
          </p:cNvPr>
          <p:cNvSpPr/>
          <p:nvPr/>
        </p:nvSpPr>
        <p:spPr>
          <a:xfrm>
            <a:off x="187388" y="2139820"/>
            <a:ext cx="11817224" cy="450669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B4EF1-96AE-42AA-83C5-C625C0F237D0}"/>
              </a:ext>
            </a:extLst>
          </p:cNvPr>
          <p:cNvSpPr txBox="1"/>
          <p:nvPr/>
        </p:nvSpPr>
        <p:spPr>
          <a:xfrm>
            <a:off x="406347" y="2205873"/>
            <a:ext cx="11405740" cy="4162192"/>
          </a:xfrm>
          <a:prstGeom prst="rect">
            <a:avLst/>
          </a:prstGeom>
          <a:noFill/>
        </p:spPr>
        <p:txBody>
          <a:bodyPr wrap="square" numCol="2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Religion biased against a protected group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 religion in future analyses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Without religion, opinion of manager emerges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Manager relationship training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Employee culture vetting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Standards of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Examine the PHT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Why is this so influential?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Is bias also a concern?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Employees hired from SMTP (email)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May not be as invested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May not be vetted as thoroughly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Potential for fraud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Run the full grid search when time allows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Find better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Tune hyperparameters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Additional bias mitigations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IBM AI Fairness 360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Google What-If tool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08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2801F7-8A6F-4E5C-BDB0-A40B3391A1EE}"/>
              </a:ext>
            </a:extLst>
          </p:cNvPr>
          <p:cNvSpPr/>
          <p:nvPr/>
        </p:nvSpPr>
        <p:spPr>
          <a:xfrm>
            <a:off x="0" y="1736270"/>
            <a:ext cx="12192000" cy="3385456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ACF7813E-126A-4BAA-B87D-71DCEC7DA2D6}"/>
              </a:ext>
            </a:extLst>
          </p:cNvPr>
          <p:cNvSpPr/>
          <p:nvPr/>
        </p:nvSpPr>
        <p:spPr>
          <a:xfrm>
            <a:off x="124408" y="1943099"/>
            <a:ext cx="11924523" cy="2971798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2153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1665</TotalTime>
  <Words>579</Words>
  <Application>Microsoft Office PowerPoint</Application>
  <PresentationFormat>Widescreen</PresentationFormat>
  <Paragraphs>137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Arial Unicode MS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Fry</dc:creator>
  <cp:lastModifiedBy>Edward Fry</cp:lastModifiedBy>
  <cp:revision>76</cp:revision>
  <dcterms:created xsi:type="dcterms:W3CDTF">2021-04-13T17:11:46Z</dcterms:created>
  <dcterms:modified xsi:type="dcterms:W3CDTF">2021-05-19T12:58:20Z</dcterms:modified>
</cp:coreProperties>
</file>